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hreya-g3/team-37" TargetMode="External"/><Relationship Id="rId4" Type="http://schemas.openxmlformats.org/officeDocument/2006/relationships/hyperlink" Target="https://github.com/shreya-g3/team-37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65A82">
              <a:alpha val="45098"/>
            </a:srgbClr>
          </a:solidFill>
          <a:ln cap="flat" cmpd="sng" w="12700">
            <a:solidFill>
              <a:srgbClr val="065A82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046720" y="2194560"/>
            <a:ext cx="1828800" cy="1828800"/>
          </a:xfrm>
          <a:prstGeom prst="ellipse">
            <a:avLst/>
          </a:prstGeom>
          <a:solidFill>
            <a:srgbClr val="0891B2">
              <a:alpha val="34901"/>
            </a:srgbClr>
          </a:solidFill>
          <a:ln cap="flat" cmpd="sng" w="12700">
            <a:solidFill>
              <a:srgbClr val="0891B2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417320"/>
            <a:ext cx="1005840" cy="64008"/>
          </a:xfrm>
          <a:prstGeom prst="roundRect">
            <a:avLst>
              <a:gd fmla="val 42857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109728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MACHINE LEARNING IN GENOMICS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554480"/>
            <a:ext cx="7772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RNA-to-Protein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Expression Prediction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33756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Predicting protein abundance from single-cell RNA sequencing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using classical ML and Graph Neural Networks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40740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Team 37  |  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Emily Beermann · Shreya Gouri · Vaishnavi Chennakeshav · Pallavi Mallepura Kadirappa · Priya Priya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>
            <a:hlinkClick r:id="rId3"/>
          </p:cNvPr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000"/>
              <a:buFont typeface="Calibri"/>
              <a:buNone/>
            </a:pPr>
            <a:r>
              <a:rPr b="0" i="0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github.com/shreya-g3/team-37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PROBLEM &amp;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are we predicting?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1143000"/>
            <a:ext cx="26517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02920" y="1234440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166,186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02920" y="181051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Single Cells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206654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Human PBMC multiome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46120" y="1143000"/>
            <a:ext cx="26517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383280" y="1234440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18,000+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383280" y="181051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RNA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383280" y="206654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 expression measurements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126480" y="1143000"/>
            <a:ext cx="26517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263640" y="1234440"/>
            <a:ext cx="2377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44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263640" y="181051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Protein Targets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63640" y="206654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Antibody-derived tags (ADT)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65760" y="2834640"/>
            <a:ext cx="841248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85800" y="292608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5800" y="329184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RNA sequencing</a:t>
            </a:r>
            <a:r>
              <a:rPr b="0" i="0" lang="en-US" sz="13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 is cheap and scalable. Measuring proteins directly (via CITE-seq) is expensive. The goal is to build a model that accurately predicts protein abundance from RNA measurements alone — enabling protein-level insights at RNA-seq cost.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Evaluation metric: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Pearson correlation (r) per protein</a:t>
            </a:r>
            <a:r>
              <a:rPr b="0" i="0" lang="en-US" sz="13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, averaged across all proteins and cross-validation folds.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raw counts to model-ready features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20040" y="1143000"/>
            <a:ext cx="1920240" cy="1645920"/>
          </a:xfrm>
          <a:prstGeom prst="roundRect">
            <a:avLst>
              <a:gd fmla="val 6667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93192" y="12070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11480" y="157276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11480" y="210312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RNA &amp; protein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.h5ad AnnData 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313432" y="1874520"/>
            <a:ext cx="137160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468880" y="1143000"/>
            <a:ext cx="1920240" cy="1645920"/>
          </a:xfrm>
          <a:prstGeom prst="roundRect">
            <a:avLst>
              <a:gd fmla="val 6667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2542032" y="12070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560320" y="157276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560320" y="210312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normalize_total (10K)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log1p transform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462272" y="1874520"/>
            <a:ext cx="137160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17720" y="1143000"/>
            <a:ext cx="1920240" cy="1645920"/>
          </a:xfrm>
          <a:prstGeom prst="roundRect">
            <a:avLst>
              <a:gd fmla="val 6667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690872" y="12070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09160" y="157276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CLR Proteins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09160" y="210312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Centred log-ratio norm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 cell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611112" y="1874520"/>
            <a:ext cx="137160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766560" y="1143000"/>
            <a:ext cx="1920240" cy="1645920"/>
          </a:xfrm>
          <a:prstGeom prst="roundRect">
            <a:avLst>
              <a:gd fmla="val 6667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839712" y="12070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858000" y="1572768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HVG Selection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858000" y="210312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2,000 highly variable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genes selected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0040" y="3017520"/>
            <a:ext cx="850392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94360" y="310896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5-Fold Cross-Validation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94360" y="3547872"/>
            <a:ext cx="1325880" cy="365760"/>
          </a:xfrm>
          <a:prstGeom prst="roundRect">
            <a:avLst>
              <a:gd fmla="val 12500" name="adj"/>
            </a:avLst>
          </a:prstGeom>
          <a:solidFill>
            <a:srgbClr val="065A82">
              <a:alpha val="80000"/>
            </a:srgbClr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94360" y="3547872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 1: 132,949 train | 33,237 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203704" y="3547872"/>
            <a:ext cx="1325880" cy="365760"/>
          </a:xfrm>
          <a:prstGeom prst="roundRect">
            <a:avLst>
              <a:gd fmla="val 12500" name="adj"/>
            </a:avLst>
          </a:prstGeom>
          <a:solidFill>
            <a:srgbClr val="0891B2">
              <a:alpha val="80000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2203704" y="3547872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 2: 132,949 train | 33,237 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813048" y="3547872"/>
            <a:ext cx="1325880" cy="365760"/>
          </a:xfrm>
          <a:prstGeom prst="roundRect">
            <a:avLst>
              <a:gd fmla="val 12500" name="adj"/>
            </a:avLst>
          </a:prstGeom>
          <a:solidFill>
            <a:srgbClr val="028090">
              <a:alpha val="80000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813048" y="3547872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 3: 132,949 train | 33,237 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22392" y="3547872"/>
            <a:ext cx="1325880" cy="365760"/>
          </a:xfrm>
          <a:prstGeom prst="roundRect">
            <a:avLst>
              <a:gd fmla="val 12500" name="adj"/>
            </a:avLst>
          </a:prstGeom>
          <a:solidFill>
            <a:srgbClr val="02A380">
              <a:alpha val="80000"/>
            </a:srgbClr>
          </a:solidFill>
          <a:ln cap="flat" cmpd="sng" w="12700">
            <a:solidFill>
              <a:srgbClr val="02A3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422392" y="3547872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 4: 132,949 train | 33,237 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031736" y="3547872"/>
            <a:ext cx="1325880" cy="365760"/>
          </a:xfrm>
          <a:prstGeom prst="roundRect">
            <a:avLst>
              <a:gd fmla="val 12500" name="adj"/>
            </a:avLst>
          </a:prstGeom>
          <a:solidFill>
            <a:srgbClr val="02C39A">
              <a:alpha val="80000"/>
            </a:srgbClr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031736" y="3547872"/>
            <a:ext cx="1325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 5: 132,949 train | 33,237 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94360" y="3986784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Stratified by cell type · random_state=42 · same splits used across ALL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MODELS EXPLORED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Classical ML to Graph Neural Networks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1188720"/>
            <a:ext cx="402336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66928" y="1307592"/>
            <a:ext cx="841248" cy="246888"/>
          </a:xfrm>
          <a:prstGeom prst="roundRect">
            <a:avLst>
              <a:gd fmla="val 37037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66928" y="1307592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66928" y="1618488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Lasso V2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66928" y="2011680"/>
            <a:ext cx="3803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Baseline · L1 regularization (MultiTaskLasso)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PCA features (256 dims) · log1p targets · α=0.05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754880" y="1188720"/>
            <a:ext cx="402336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864608" y="1307592"/>
            <a:ext cx="841248" cy="246888"/>
          </a:xfrm>
          <a:prstGeom prst="roundRect">
            <a:avLst>
              <a:gd fmla="val 37037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864608" y="1307592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864608" y="1618488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ElasticNet V2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864608" y="2011680"/>
            <a:ext cx="3803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L1+L2 combined regularization · α=0.05, l1_ratio=0.7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Sparse protein prediction on PCA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57200" y="3200400"/>
            <a:ext cx="402336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66928" y="3319272"/>
            <a:ext cx="841248" cy="246888"/>
          </a:xfrm>
          <a:prstGeom prst="roundRect">
            <a:avLst>
              <a:gd fmla="val 37037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566928" y="3319272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66928" y="3630168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66928" y="4023360"/>
            <a:ext cx="3803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Multi-layer perceptron · 30 epochs · MSE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Log1p targets · PCA features (256 dims)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754880" y="3200400"/>
            <a:ext cx="4023360" cy="1828800"/>
          </a:xfrm>
          <a:prstGeom prst="roundRect">
            <a:avLst>
              <a:gd fmla="val 6000" name="adj"/>
            </a:avLst>
          </a:prstGeom>
          <a:solidFill>
            <a:srgbClr val="0A2E45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864608" y="3319272"/>
            <a:ext cx="841248" cy="246888"/>
          </a:xfrm>
          <a:prstGeom prst="roundRect">
            <a:avLst>
              <a:gd fmla="val 37037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864608" y="3319272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864608" y="3630168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GNN 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864608" y="4023360"/>
            <a:ext cx="380390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C4DC"/>
                </a:solidFill>
                <a:latin typeface="Calibri"/>
                <a:ea typeface="Calibri"/>
                <a:cs typeface="Calibri"/>
                <a:sym typeface="Calibri"/>
              </a:rPr>
              <a:t>Graph Neural Network · 50 epochs · SpatialGraphSAGE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C4DC"/>
                </a:solidFill>
                <a:latin typeface="Calibri"/>
                <a:ea typeface="Calibri"/>
                <a:cs typeface="Calibri"/>
                <a:sym typeface="Calibri"/>
              </a:rPr>
              <a:t>Cell graph · neighbor message passing · log1p targets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MODEL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Performance comparison across all trained models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097280"/>
            <a:ext cx="548640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6080760" y="1097280"/>
            <a:ext cx="2743200" cy="1280160"/>
          </a:xfrm>
          <a:prstGeom prst="roundRect">
            <a:avLst>
              <a:gd fmla="val 8571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080760" y="1188720"/>
            <a:ext cx="2743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0.417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080760" y="17922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ElasticNet V2 · Best Train Pearson 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080760" y="20848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FAF0"/>
                </a:solidFill>
                <a:latin typeface="Calibri"/>
                <a:ea typeface="Calibri"/>
                <a:cs typeface="Calibri"/>
                <a:sym typeface="Calibri"/>
              </a:rPr>
              <a:t>α=0.05  ·  l1_ratio=0.7  ·  PCA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080760" y="2542032"/>
            <a:ext cx="2743200" cy="1371600"/>
          </a:xfrm>
          <a:prstGeom prst="roundRect">
            <a:avLst>
              <a:gd fmla="val 8000" name="adj"/>
            </a:avLst>
          </a:prstGeom>
          <a:solidFill>
            <a:srgbClr val="0A2E45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309360" y="26334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GNN  —  50 Epochs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309360" y="2944368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 Pearson r:  </a:t>
            </a: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0.177</a:t>
            </a:r>
            <a:b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 Pearson r:  </a:t>
            </a: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080760" y="4041648"/>
            <a:ext cx="2743200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309360" y="413308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MLP  —  30 Epochs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309360" y="442569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loss ↓ 21.8M → 19.9M  |  Val loss ↓ 337M → 327M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2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65A82">
              <a:alpha val="40000"/>
            </a:srgbClr>
          </a:solidFill>
          <a:ln cap="flat" cmpd="sng" w="12700">
            <a:solidFill>
              <a:srgbClr val="065A8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57200" y="1828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PRIMARY MODEL  ·  GNN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Graph Neural Network — 50 Epochs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TRAINING 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57200" y="1481328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0A3050"/>
          </a:solidFill>
          <a:ln cap="flat" cmpd="sng" w="12700">
            <a:solidFill>
              <a:srgbClr val="1E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57200" y="15361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0.1774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20756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Pearson 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514600" y="1481328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0A3050"/>
          </a:solidFill>
          <a:ln cap="flat" cmpd="sng" w="12700">
            <a:solidFill>
              <a:srgbClr val="1E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2514600" y="15361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−7.90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514600" y="20756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0" y="1481328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0A3050"/>
          </a:solidFill>
          <a:ln cap="flat" cmpd="sng" w="12700">
            <a:solidFill>
              <a:srgbClr val="1E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572000" y="15361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4,471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572000" y="20756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629400" y="1481328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0A3050"/>
          </a:solidFill>
          <a:ln cap="flat" cmpd="sng" w="12700">
            <a:solidFill>
              <a:srgbClr val="1E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629400" y="1536192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4,092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629400" y="207568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2724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VALIDATION 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3017520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1C0A0A"/>
          </a:solidFill>
          <a:ln cap="flat" cmpd="sng" w="12700">
            <a:solidFill>
              <a:srgbClr val="5C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3072384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0.0008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57200" y="36118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Pearson 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514600" y="3017520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1C0A0A"/>
          </a:solidFill>
          <a:ln cap="flat" cmpd="sng" w="12700">
            <a:solidFill>
              <a:srgbClr val="5C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514600" y="3072384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−3.02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514600" y="36118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0" y="3017520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1C0A0A"/>
          </a:solidFill>
          <a:ln cap="flat" cmpd="sng" w="12700">
            <a:solidFill>
              <a:srgbClr val="5C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572000" y="3072384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24,407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0" y="36118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629400" y="3017520"/>
            <a:ext cx="1920240" cy="1078992"/>
          </a:xfrm>
          <a:prstGeom prst="roundRect">
            <a:avLst>
              <a:gd fmla="val 8475" name="adj"/>
            </a:avLst>
          </a:prstGeom>
          <a:solidFill>
            <a:srgbClr val="1C0A0A"/>
          </a:solidFill>
          <a:ln cap="flat" cmpd="sng" w="12700">
            <a:solidFill>
              <a:srgbClr val="5C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629400" y="3072384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21,148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629400" y="36118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4251960"/>
            <a:ext cx="8321040" cy="685800"/>
          </a:xfrm>
          <a:prstGeom prst="roundRect">
            <a:avLst>
              <a:gd fmla="val 13333" name="adj"/>
            </a:avLst>
          </a:prstGeom>
          <a:solidFill>
            <a:srgbClr val="0A2E45"/>
          </a:solidFill>
          <a:ln cap="flat" cmpd="sng" w="12700">
            <a:solidFill>
              <a:srgbClr val="1C5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685800" y="4315968"/>
            <a:ext cx="7955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Observation: </a:t>
            </a:r>
            <a:r>
              <a:rPr b="0" i="0" lang="en-US" sz="1100" u="none" cap="none" strike="noStrike">
                <a:solidFill>
                  <a:srgbClr val="A0C4DC"/>
                </a:solidFill>
                <a:latin typeface="Calibri"/>
                <a:ea typeface="Calibri"/>
                <a:cs typeface="Calibri"/>
                <a:sym typeface="Calibri"/>
              </a:rPr>
              <a:t>Large train/valid gap indicates overfitting on the cell similarity graph. The model learns training-set patterns but does not generalise to held-out cells. Next steps: add dropout, reduce LR, try mini-batch training, increase graph connectivity.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MLP &amp; BASELINE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MLP 30-epoch training  ·  Lasso baseline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65760" y="1097280"/>
            <a:ext cx="4846320" cy="379476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594360" y="120700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MLP — 30 Epochs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94360" y="155448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Training &amp; Validation Loss (MSE)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74520"/>
            <a:ext cx="45720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5394960" y="1097280"/>
            <a:ext cx="3429000" cy="379476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577840" y="1207008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Lasso &amp; ElasticNet — Baselines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577840" y="1581912"/>
            <a:ext cx="777240" cy="228600"/>
          </a:xfrm>
          <a:prstGeom prst="roundRect">
            <a:avLst>
              <a:gd fmla="val 40000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5577840" y="1581912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577840" y="192024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Lasso V2 (L1  ·  PCA features)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577840" y="2212848"/>
            <a:ext cx="1435608" cy="713232"/>
          </a:xfrm>
          <a:prstGeom prst="roundRect">
            <a:avLst>
              <a:gd fmla="val 10256" name="adj"/>
            </a:avLst>
          </a:prstGeom>
          <a:solidFill>
            <a:srgbClr val="F0F7FA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5577840" y="2267712"/>
            <a:ext cx="1435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0.413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577840" y="2651760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Pearson 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150608" y="2212848"/>
            <a:ext cx="1435608" cy="713232"/>
          </a:xfrm>
          <a:prstGeom prst="roundRect">
            <a:avLst>
              <a:gd fmla="val 10256" name="adj"/>
            </a:avLst>
          </a:prstGeom>
          <a:solidFill>
            <a:srgbClr val="F0F7FA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7150608" y="2267712"/>
            <a:ext cx="1435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0.002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150608" y="2651760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 Pearson 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577840" y="3017520"/>
            <a:ext cx="1435608" cy="713232"/>
          </a:xfrm>
          <a:prstGeom prst="roundRect">
            <a:avLst>
              <a:gd fmla="val 10256" name="adj"/>
            </a:avLst>
          </a:prstGeom>
          <a:solidFill>
            <a:srgbClr val="F0F7FA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577840" y="3072384"/>
            <a:ext cx="1435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F2940"/>
                </a:solidFill>
                <a:latin typeface="Cambria"/>
                <a:ea typeface="Cambria"/>
                <a:cs typeface="Cambria"/>
                <a:sym typeface="Cambria"/>
              </a:rPr>
              <a:t>0.192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577840" y="3456432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R²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150608" y="3017520"/>
            <a:ext cx="1435608" cy="713232"/>
          </a:xfrm>
          <a:prstGeom prst="roundRect">
            <a:avLst>
              <a:gd fmla="val 10256" name="adj"/>
            </a:avLst>
          </a:prstGeom>
          <a:solidFill>
            <a:srgbClr val="F0F7FA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7150608" y="3072384"/>
            <a:ext cx="14356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F2940"/>
                </a:solidFill>
                <a:latin typeface="Cambria"/>
                <a:ea typeface="Cambria"/>
                <a:cs typeface="Cambria"/>
                <a:sym typeface="Cambria"/>
              </a:rPr>
              <a:t>−6.24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150608" y="3456432"/>
            <a:ext cx="14356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 R²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577840" y="3858768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ElasticNet V2 (L1+L2  ·  PCA features)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577840" y="4151376"/>
            <a:ext cx="3145536" cy="566928"/>
          </a:xfrm>
          <a:prstGeom prst="roundRect">
            <a:avLst>
              <a:gd fmla="val 12903" name="adj"/>
            </a:avLst>
          </a:prstGeom>
          <a:solidFill>
            <a:srgbClr val="F0F7FA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623560" y="4187952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Pearson r: </a:t>
            </a: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0.417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 Pearson r: </a:t>
            </a:r>
            <a: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0.002</a:t>
            </a:r>
            <a:br>
              <a:rPr b="1" i="0" lang="en-US" sz="1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α=0.05  ·  l1_ratio=0.7  ·  max_iter=500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Computed metric results — all 4 models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84048" y="1024128"/>
            <a:ext cx="8375904" cy="329184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84048" y="102412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737360" y="102412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606040" y="102412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Pearson 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474720" y="102412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343400" y="102412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212080" y="102412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84048" y="1371600"/>
            <a:ext cx="8375904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29768" y="137160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Lasso V2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737360" y="137160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2606040" y="137160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0.413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474720" y="137160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0.192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343400" y="137160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212080" y="137160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84048" y="1792224"/>
            <a:ext cx="8375904" cy="420624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D8E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29768" y="1792224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(Baseline)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737360" y="179222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606040" y="179222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mbria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0.001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474720" y="179222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−6.24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343400" y="179222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21,320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5212080" y="179222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17,979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84048" y="2212848"/>
            <a:ext cx="8375904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29768" y="2212848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ElasticNet V2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737360" y="221284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2606040" y="221284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0.417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474720" y="221284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343400" y="221284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212080" y="221284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84048" y="2633472"/>
            <a:ext cx="8375904" cy="420624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D8E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429768" y="2633472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(α=0.05, L1+L2)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1737360" y="2633472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606040" y="2633472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mbria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0.002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474720" y="2633472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−2.04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343400" y="2633472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21,300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212080" y="2633472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17,964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84048" y="3054096"/>
            <a:ext cx="8375904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429768" y="3054096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737360" y="3054096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2606040" y="3054096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F2940"/>
                </a:solidFill>
                <a:latin typeface="Cambria"/>
                <a:ea typeface="Cambria"/>
                <a:cs typeface="Cambria"/>
                <a:sym typeface="Cambria"/>
              </a:rPr>
              <a:t>0.192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474720" y="3054096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343400" y="3054096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5212080" y="3054096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84048" y="3474720"/>
            <a:ext cx="8375904" cy="420624"/>
          </a:xfrm>
          <a:prstGeom prst="rect">
            <a:avLst/>
          </a:prstGeom>
          <a:solidFill>
            <a:srgbClr val="E8F4F8"/>
          </a:solidFill>
          <a:ln cap="flat" cmpd="sng" w="12700">
            <a:solidFill>
              <a:srgbClr val="D8EE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429768" y="3474720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(30 epochs)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737360" y="347472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2606040" y="347472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mbria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0.001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474720" y="347472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343400" y="347472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212080" y="347472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84048" y="3895344"/>
            <a:ext cx="8375904" cy="420624"/>
          </a:xfrm>
          <a:prstGeom prst="rect">
            <a:avLst/>
          </a:prstGeom>
          <a:solidFill>
            <a:srgbClr val="0A2332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429768" y="3895344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GNN 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737360" y="389534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2606040" y="389534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mbria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0.177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474720" y="389534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−7.90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343400" y="389534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4,471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212080" y="389534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4,092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84048" y="4315968"/>
            <a:ext cx="8375904" cy="420624"/>
          </a:xfrm>
          <a:prstGeom prst="rect">
            <a:avLst/>
          </a:prstGeom>
          <a:solidFill>
            <a:srgbClr val="0E2840"/>
          </a:solidFill>
          <a:ln cap="flat" cmpd="sng" w="12700">
            <a:solidFill>
              <a:srgbClr val="1E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429768" y="4315968"/>
            <a:ext cx="1234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(Primary · 50ep)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737360" y="431596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Valid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606040" y="431596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mbria"/>
              <a:buNone/>
            </a:pPr>
            <a:r>
              <a:rPr b="0" i="0" lang="en-US" sz="1000" u="none" cap="none" strike="noStrike">
                <a:solidFill>
                  <a:srgbClr val="DC2626"/>
                </a:solidFill>
                <a:latin typeface="Cambria"/>
                <a:ea typeface="Cambria"/>
                <a:cs typeface="Cambria"/>
                <a:sym typeface="Cambria"/>
              </a:rPr>
              <a:t>0.001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474720" y="431596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−3.02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343400" y="431596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24,407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212080" y="431596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21,148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384048" y="4754880"/>
            <a:ext cx="8375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★ GNN is the primary model. RMSE/MAE on log1p protein scale (not normalised). Lasso/EN/MLP RMSE &amp; MAE not captured in terminal output.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989320" y="1024128"/>
            <a:ext cx="2788920" cy="3364992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6126480" y="10972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Train Pearson 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108192" y="144475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ElasticNet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995160" y="1517904"/>
            <a:ext cx="1554480" cy="201168"/>
          </a:xfrm>
          <a:prstGeom prst="roundRect">
            <a:avLst>
              <a:gd fmla="val 27273" name="adj"/>
            </a:avLst>
          </a:prstGeom>
          <a:solidFill>
            <a:srgbClr val="E8EFF5"/>
          </a:solidFill>
          <a:ln cap="flat" cmpd="sng" w="12700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6995160" y="1517904"/>
            <a:ext cx="1296436" cy="201168"/>
          </a:xfrm>
          <a:prstGeom prst="roundRect">
            <a:avLst>
              <a:gd fmla="val 27273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8319028" y="1499616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0.417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108192" y="1883664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Lasso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995160" y="1956816"/>
            <a:ext cx="1554480" cy="201168"/>
          </a:xfrm>
          <a:prstGeom prst="roundRect">
            <a:avLst>
              <a:gd fmla="val 27273" name="adj"/>
            </a:avLst>
          </a:prstGeom>
          <a:solidFill>
            <a:srgbClr val="E8EFF5"/>
          </a:solidFill>
          <a:ln cap="flat" cmpd="sng" w="12700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995160" y="1956816"/>
            <a:ext cx="1284000" cy="201168"/>
          </a:xfrm>
          <a:prstGeom prst="roundRect">
            <a:avLst>
              <a:gd fmla="val 27273" name="adj"/>
            </a:avLst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8306592" y="1938528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0.413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108192" y="2322576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MLP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995160" y="2395728"/>
            <a:ext cx="1554480" cy="201168"/>
          </a:xfrm>
          <a:prstGeom prst="roundRect">
            <a:avLst>
              <a:gd fmla="val 27273" name="adj"/>
            </a:avLst>
          </a:prstGeom>
          <a:solidFill>
            <a:srgbClr val="E8EFF5"/>
          </a:solidFill>
          <a:ln cap="flat" cmpd="sng" w="12700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6995160" y="2395728"/>
            <a:ext cx="596920" cy="201168"/>
          </a:xfrm>
          <a:prstGeom prst="roundRect">
            <a:avLst>
              <a:gd fmla="val 2727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7619512" y="23774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0.192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108192" y="2761488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GNN 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995160" y="2834640"/>
            <a:ext cx="1554480" cy="201168"/>
          </a:xfrm>
          <a:prstGeom prst="roundRect">
            <a:avLst>
              <a:gd fmla="val 27273" name="adj"/>
            </a:avLst>
          </a:prstGeom>
          <a:solidFill>
            <a:srgbClr val="E8EFF5"/>
          </a:solidFill>
          <a:ln cap="flat" cmpd="sng" w="12700">
            <a:solidFill>
              <a:srgbClr val="E8E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995160" y="2834640"/>
            <a:ext cx="550286" cy="201168"/>
          </a:xfrm>
          <a:prstGeom prst="roundRect">
            <a:avLst>
              <a:gd fmla="val 27273" name="adj"/>
            </a:avLst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572878" y="2816352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0.177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57200" y="7315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TECHNICAL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Engineering decisions &amp; implementation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65760" y="1115568"/>
            <a:ext cx="5303520" cy="841248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02920" y="1316736"/>
            <a:ext cx="347472" cy="347472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502920" y="1316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932688" y="118872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Shared CV Splits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32688" y="1463040"/>
            <a:ext cx="4617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models use the same 5 stratified folds (random_state=42) ensuring fair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365760" y="2048256"/>
            <a:ext cx="5303520" cy="841248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502920" y="2249424"/>
            <a:ext cx="347472" cy="347472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502920" y="22494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932688" y="2121408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32688" y="2395728"/>
            <a:ext cx="4617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TruncatedSVD / PCA on 18K+ gene features → 256 dims for deep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365760" y="2980944"/>
            <a:ext cx="5303520" cy="841248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02920" y="3182112"/>
            <a:ext cx="347472" cy="347472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502920" y="31821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932688" y="3054096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932688" y="3328416"/>
            <a:ext cx="4617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2,000 highly variable genes selected via cell_ranger flavor; subset saved for reproducibility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365760" y="3913632"/>
            <a:ext cx="5303520" cy="841248"/>
          </a:xfrm>
          <a:prstGeom prst="roundRect">
            <a:avLst>
              <a:gd fmla="val 10870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02920" y="4114800"/>
            <a:ext cx="347472" cy="347472"/>
          </a:xfrm>
          <a:prstGeom prst="ellipse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02920" y="4114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932688" y="3986784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Scaling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932688" y="4261104"/>
            <a:ext cx="46177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StandardScaler fit on training fold only; transform applied to validation — prevents leakage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5897880" y="1115568"/>
            <a:ext cx="2926080" cy="2011680"/>
          </a:xfrm>
          <a:prstGeom prst="roundRect">
            <a:avLst>
              <a:gd fmla="val 5455" name="adj"/>
            </a:avLst>
          </a:prstGeom>
          <a:solidFill>
            <a:srgbClr val="021B2E"/>
          </a:solidFill>
          <a:ln cap="flat" cmpd="sng" w="12700">
            <a:solidFill>
              <a:srgbClr val="021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126480" y="12344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Codebase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6126480" y="16642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8321040" y="16642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68.7%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126480" y="1938528"/>
            <a:ext cx="2560320" cy="146304"/>
          </a:xfrm>
          <a:prstGeom prst="roundRect">
            <a:avLst>
              <a:gd fmla="val 50000" name="adj"/>
            </a:avLst>
          </a:prstGeom>
          <a:solidFill>
            <a:srgbClr val="1E3A4C"/>
          </a:solidFill>
          <a:ln cap="flat" cmpd="sng" w="12700">
            <a:solidFill>
              <a:srgbClr val="1E3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126480" y="1938528"/>
            <a:ext cx="1758940" cy="146304"/>
          </a:xfrm>
          <a:prstGeom prst="roundRect">
            <a:avLst>
              <a:gd fmla="val 50000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126480" y="21945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Jupyter Notebooks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321040" y="21945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31.3%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126480" y="2468880"/>
            <a:ext cx="2560320" cy="146304"/>
          </a:xfrm>
          <a:prstGeom prst="roundRect">
            <a:avLst>
              <a:gd fmla="val 50000" name="adj"/>
            </a:avLst>
          </a:prstGeom>
          <a:solidFill>
            <a:srgbClr val="1E3A4C"/>
          </a:solidFill>
          <a:ln cap="flat" cmpd="sng" w="12700">
            <a:solidFill>
              <a:srgbClr val="1E3A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6126480" y="2468880"/>
            <a:ext cx="801380" cy="146304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5897880" y="3273552"/>
            <a:ext cx="292608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1FA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126480" y="33649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Pipeline Summary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6126480" y="3675888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Raw RNA/Protein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→ Preprocessing (HVG, CLR)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→ 5-fold CV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→ Model training &amp; 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94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F2940"/>
                </a:solidFill>
                <a:latin typeface="Calibri"/>
                <a:ea typeface="Calibri"/>
                <a:cs typeface="Calibri"/>
                <a:sym typeface="Calibri"/>
              </a:rPr>
              <a:t>→ Submission predictions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1B2E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6858000" y="-365760"/>
            <a:ext cx="3200400" cy="3200400"/>
          </a:xfrm>
          <a:prstGeom prst="ellipse">
            <a:avLst/>
          </a:prstGeom>
          <a:solidFill>
            <a:srgbClr val="065A82">
              <a:alpha val="45098"/>
            </a:srgbClr>
          </a:solidFill>
          <a:ln cap="flat" cmpd="sng" w="12700">
            <a:solidFill>
              <a:srgbClr val="065A82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0891B2">
              <a:alpha val="30196"/>
            </a:srgbClr>
          </a:solidFill>
          <a:ln cap="flat" cmpd="sng" w="12700">
            <a:solidFill>
              <a:srgbClr val="0891B2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548640" y="45720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CONCLUSIONS &amp; NEXT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48640" y="77724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 learned — and where we're headed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57200" y="1600200"/>
            <a:ext cx="4069080" cy="3246120"/>
          </a:xfrm>
          <a:prstGeom prst="roundRect">
            <a:avLst>
              <a:gd fmla="val 3944" name="adj"/>
            </a:avLst>
          </a:prstGeom>
          <a:solidFill>
            <a:srgbClr val="0A2E45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685800" y="17373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85800" y="2157984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ElasticNet V2 achieves best train Pearson r = 0.417; Lasso V2 baseline at 0.413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GNN (primary model): train Pearson = 0.177, valid = 0.001 — clear overfitting 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MLP training loss decreases steadily over 30 epochs — further tuning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Lasso baseline confirms that simple L1 models set a useful lower bound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HVG selection (2K genes) effectively compresses the 18K+ feature space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663440" y="1600200"/>
            <a:ext cx="4069080" cy="3246120"/>
          </a:xfrm>
          <a:prstGeom prst="roundRect">
            <a:avLst>
              <a:gd fmla="val 3944" name="adj"/>
            </a:avLst>
          </a:prstGeom>
          <a:solidFill>
            <a:srgbClr val="0A2E45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4892040" y="17373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892040" y="2157984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Tune GNN: add dropout, reduce LR, try mini-batch training &amp; more epochs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Run full cross-validated Lasso/ElasticNet with PCA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Extend GNN training (100+ epochs) with learning rate scheduling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Hyperparameter search for MLP (depth, width, learning rate schedule)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B0CCD8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B0CCD8"/>
                </a:solidFill>
                <a:latin typeface="Calibri"/>
                <a:ea typeface="Calibri"/>
                <a:cs typeface="Calibri"/>
                <a:sym typeface="Calibri"/>
              </a:rPr>
              <a:t>Ensemble ElasticNet V2 + GNN predictions for improved Pearson 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